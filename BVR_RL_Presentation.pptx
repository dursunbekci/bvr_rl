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A3F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9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097280"/>
            <a:ext cx="6400800" cy="2926080"/>
          </a:xfrm>
          <a:prstGeom prst="rect">
            <a:avLst/>
          </a:prstGeom>
          <a:solidFill>
            <a:srgbClr val="0A1525"/>
          </a:solidFill>
          <a:ln w="12700">
            <a:solidFill>
              <a:srgbClr val="3A9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13716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F-16 BVR COMBAT RL AGENT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488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Beyond Visual Range Air Combat with Reinforcement Learning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60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Pure-Python Simulation · MaskablePPO · Three.js Tactical GUI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88036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─────────────────────────────────────────────────────────────────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1089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Dursun Şahin  ·  Sep 2026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747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WVR system (86% kill rate) → BVR 40km+ engagements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A3F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E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Train a PPO agent to win Beyond Visual Range (BVR) 1v1 F-16 engagements without C++ simulation dependencies.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0D1828"/>
          </a:solidFill>
          <a:ln w="12700">
            <a:solidFill>
              <a:srgbClr val="2AE8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80744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WVR Baseline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4447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1v1 dogfight (&lt; 5 km)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86% kill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8412480" cy="685800"/>
          </a:xfrm>
          <a:prstGeom prst="rect">
            <a:avLst/>
          </a:prstGeom>
          <a:solidFill>
            <a:srgbClr val="0D1828"/>
          </a:solidFill>
          <a:ln w="12700">
            <a:solidFill>
              <a:srgbClr val="FFBB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57984"/>
            <a:ext cx="109728" cy="109728"/>
          </a:xfrm>
          <a:prstGeom prst="ellipse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1965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BVR Target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2219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Missile combat (20–80 km)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075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in progress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DECISIONS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127248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Pure-Python sim replaces C++ — no DLL, no port, 43× realtime throughput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410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MaskablePPO (SB3-Contrib) — action masking enforces launch envelope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758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≥ 0.997 — missile takes 40 s to hit; low gamma loses the launch credit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169664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105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Asymmetric actor-critic — actor sees radar only, critic sees full truth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517136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453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6-stage curriculum: STRAIGHT → EVASIVE → NOTCHER → SHOOTER → ADAPTIVE → SELF-PLAY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A3F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8412480" cy="749808"/>
          </a:xfrm>
          <a:prstGeom prst="rect">
            <a:avLst/>
          </a:prstGeom>
          <a:solidFill>
            <a:srgbClr val="0D1828"/>
          </a:solidFill>
          <a:ln w="12700">
            <a:solidFill>
              <a:srgbClr val="3A9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48640"/>
            <a:ext cx="109728" cy="749808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LOOP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84124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train_bvr.py  ·  MaskablePPO  ·  Curriculum callbacks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08813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SB3-Contrib  ·  n_envs=1-8 parallel envs  ·  bvr_metrics.json every 10 ep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8412480" cy="749808"/>
          </a:xfrm>
          <a:prstGeom prst="rect">
            <a:avLst/>
          </a:prstGeom>
          <a:solidFill>
            <a:srgbClr val="0D1828"/>
          </a:solidFill>
          <a:ln w="12700">
            <a:solidFill>
              <a:srgbClr val="2AE8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71600"/>
            <a:ext cx="109728" cy="749808"/>
          </a:xfrm>
          <a:prstGeom prst="rect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 ENVIRONMENT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16642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bvr_env.py  ·  Gymnasium  ·  MultiDiscrete(10×5×4×2) action space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19110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Radar track obs (46 dims)  ·  Potential-based reward shaping  ·  Action masking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8412480" cy="749808"/>
          </a:xfrm>
          <a:prstGeom prst="rect">
            <a:avLst/>
          </a:prstGeom>
          <a:solidFill>
            <a:srgbClr val="0D1828"/>
          </a:solidFill>
          <a:ln w="12700">
            <a:solidFill>
              <a:srgbClr val="FFBB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194560"/>
            <a:ext cx="109728" cy="749808"/>
          </a:xfrm>
          <a:prstGeom prst="rect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SIMULATION CORE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48716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sim_world.py  ·  f16_sim.py  ·  missile_sim.py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273405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F-16C point-mass 6DOF  ·  AIM-120 PN guidance  ·  3-second support rule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8412480" cy="749808"/>
          </a:xfrm>
          <a:prstGeom prst="rect">
            <a:avLst/>
          </a:prstGeom>
          <a:solidFill>
            <a:srgbClr val="0D1828"/>
          </a:solidFill>
          <a:ln w="12700">
            <a:solidFill>
              <a:srgbClr val="22FF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17520"/>
            <a:ext cx="109728" cy="749808"/>
          </a:xfrm>
          <a:prstGeom prst="rect">
            <a:avLst/>
          </a:prstGeom>
          <a:solidFill>
            <a:srgbClr val="22FF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RADAR / ENVELOPE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31012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bvr_radar_sim.py  ·  53 µs/call (vs 5 ms DLL)  ·  EKF covariance tracking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55701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bvr_envelope.py  ·  Analytic Rmax / NEZ  ·  Calibrated per missile state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A3F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PURE-PYTHON F-16 SIMULATION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E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C++ required — everything runs in Python. Verified 43× realtime at 1 Hz decisions (15/15 tests pass on Windows Python 3.9).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97480" cy="3566160"/>
          </a:xfrm>
          <a:prstGeom prst="rect">
            <a:avLst/>
          </a:prstGeom>
          <a:solidFill>
            <a:srgbClr val="0D1828"/>
          </a:solidFill>
          <a:ln w="12700">
            <a:solidFill>
              <a:srgbClr val="3A9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697480" cy="274320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241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09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F-16C Flight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1417320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3533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Point-mass 3-DOF + attitude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1892808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Autopilot: heading → bank → nz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2368296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304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 ~47 m/s at 9000 m M0.9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2843784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7797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rate ~5°/s sustained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" y="3319272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2552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 burn, landing gear, limits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005840"/>
            <a:ext cx="2697480" cy="3566160"/>
          </a:xfrm>
          <a:prstGeom prst="rect">
            <a:avLst/>
          </a:prstGeom>
          <a:solidFill>
            <a:srgbClr val="0D1828"/>
          </a:solidFill>
          <a:ln w="12700">
            <a:solidFill>
              <a:srgbClr val="FFBB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005840"/>
            <a:ext cx="2697480" cy="274320"/>
          </a:xfrm>
          <a:prstGeom prst="rect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37560" y="10241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09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AIM-120 Missile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55848" y="1417320"/>
            <a:ext cx="109728" cy="109728"/>
          </a:xfrm>
          <a:prstGeom prst="ellipse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0440" y="13533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Proportional Navigation (N=4)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5848" y="1892808"/>
            <a:ext cx="109728" cy="109728"/>
          </a:xfrm>
          <a:prstGeom prst="ellipse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2044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Guides on RADAR estimate (not truth)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55848" y="2368296"/>
            <a:ext cx="109728" cy="109728"/>
          </a:xfrm>
          <a:prstGeom prst="ellipse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20440" y="2304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3-second datalink support rule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55848" y="2843784"/>
            <a:ext cx="109728" cy="109728"/>
          </a:xfrm>
          <a:prstGeom prst="ellipse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20440" y="27797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Seeker handoff at 8–16 km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55848" y="3319272"/>
            <a:ext cx="109728" cy="109728"/>
          </a:xfrm>
          <a:prstGeom prst="ellipse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20440" y="32552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Kinematic miss detection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1005840"/>
            <a:ext cx="2697480" cy="3566160"/>
          </a:xfrm>
          <a:prstGeom prst="rect">
            <a:avLst/>
          </a:prstGeom>
          <a:solidFill>
            <a:srgbClr val="0D1828"/>
          </a:solidFill>
          <a:ln w="12700">
            <a:solidFill>
              <a:srgbClr val="2AE8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1005840"/>
            <a:ext cx="2697480" cy="274320"/>
          </a:xfrm>
          <a:prstGeom prst="rect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0" y="10241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09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 Integrator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36208" y="1417320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13533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sim_world.step(cmd1, cmd2)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36208" y="1892808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telemetry dict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36208" y="2368296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0" y="23042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Fires missile, tracks impact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36208" y="2843784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0" y="277977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 / HIT / MISS events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36208" y="3319272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0" y="32552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 offline, no UDP/ports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663440"/>
            <a:ext cx="8412480" cy="301752"/>
          </a:xfrm>
          <a:prstGeom prst="rect">
            <a:avLst/>
          </a:prstGeom>
          <a:solidFill>
            <a:srgbClr val="0D1828"/>
          </a:solidFill>
          <a:ln w="12700">
            <a:solidFill>
              <a:srgbClr val="22FFD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7200" y="469087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43× realtime  ·  600+ episodes/sec  ·  0 external dependencies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A3F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 ENVIRONMENT DESIGN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SPACE  (MultiDiscrete)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50392"/>
            <a:ext cx="8412480" cy="329184"/>
          </a:xfrm>
          <a:prstGeom prst="rect">
            <a:avLst/>
          </a:prstGeom>
          <a:solidFill>
            <a:srgbClr val="0D1828"/>
          </a:solidFill>
          <a:ln w="12700">
            <a:solidFill>
              <a:srgbClr val="3A9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886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 offset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886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bins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8961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0°=hot  ±50°=crank  ±90°=beam  180°=drag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234440"/>
            <a:ext cx="8412480" cy="329184"/>
          </a:xfrm>
          <a:prstGeom prst="rect">
            <a:avLst/>
          </a:prstGeom>
          <a:solidFill>
            <a:srgbClr val="0D1828"/>
          </a:solidFill>
          <a:ln w="12700">
            <a:solidFill>
              <a:srgbClr val="2AE8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271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Altitude delta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1271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bins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−3000 m  to  +3000 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1618488"/>
            <a:ext cx="8412480" cy="329184"/>
          </a:xfrm>
          <a:prstGeom prst="rect">
            <a:avLst/>
          </a:prstGeom>
          <a:solidFill>
            <a:srgbClr val="0D1828"/>
          </a:solidFill>
          <a:ln w="12700">
            <a:solidFill>
              <a:srgbClr val="FFBB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1655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target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16550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bins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16642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 / 260 / 300 / 340 m/s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002536"/>
            <a:ext cx="8412480" cy="329184"/>
          </a:xfrm>
          <a:prstGeom prst="rect">
            <a:avLst/>
          </a:prstGeom>
          <a:solidFill>
            <a:srgbClr val="0D1828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2039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 missile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2039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bins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20482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masked off unless inside 1.15 × Rmax  &amp;  TRACK state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2487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  (46 dims)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788920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2724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Ownship state: position, velocity, heading, bank, nz, speed, fuel, alt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136392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3072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state: NONE / ACQUIRING / TRACK / COAST  +  position σ  +  age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483864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34198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Envelope scalars: r/Rmax, r/NEZ (own &amp; threat)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831336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37673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Missile state: TGO estimate, needs_support flag, t_since_update, seeker_active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4178808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" y="4114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RWR: launch_warn, seeker_active, bearing to threat missile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4773168"/>
            <a:ext cx="2011680" cy="292608"/>
          </a:xfrm>
          <a:prstGeom prst="rect">
            <a:avLst/>
          </a:prstGeom>
          <a:solidFill>
            <a:srgbClr val="0D1828"/>
          </a:solidFill>
          <a:ln w="12700">
            <a:solidFill>
              <a:srgbClr val="2AE87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8912" y="48006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4800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0" y="4773168"/>
            <a:ext cx="2011680" cy="292608"/>
          </a:xfrm>
          <a:prstGeom prst="rect">
            <a:avLst/>
          </a:prstGeom>
          <a:solidFill>
            <a:srgbClr val="0D1828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33472" y="48006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-1.0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337560" y="4800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4773168"/>
            <a:ext cx="2011680" cy="292608"/>
          </a:xfrm>
          <a:prstGeom prst="rect">
            <a:avLst/>
          </a:prstGeom>
          <a:solidFill>
            <a:srgbClr val="0D1828"/>
          </a:solidFill>
          <a:ln w="12700">
            <a:solidFill>
              <a:srgbClr val="FFBB2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28032" y="48006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532120" y="4800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MUTUAL KILL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49440" y="4773168"/>
            <a:ext cx="2011680" cy="292608"/>
          </a:xfrm>
          <a:prstGeom prst="rect">
            <a:avLst/>
          </a:prstGeom>
          <a:solidFill>
            <a:srgbClr val="0D1828"/>
          </a:solidFill>
          <a:ln w="12700">
            <a:solidFill>
              <a:srgbClr val="FFBB2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022592" y="48006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-0.9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726680" y="4800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 (passive collapse penalty)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A3F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PIPELINE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CURRICULUM STAGES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86968"/>
            <a:ext cx="1554480" cy="502920"/>
          </a:xfrm>
          <a:prstGeom prst="rect">
            <a:avLst/>
          </a:prstGeom>
          <a:solidFill>
            <a:srgbClr val="0D1828"/>
          </a:solidFill>
          <a:ln w="12700">
            <a:solidFill>
              <a:srgbClr val="3A9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14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STRAIGHT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01498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Flies straight, unarmed. Learn to search, track, and kill.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4081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499616"/>
            <a:ext cx="1554480" cy="502920"/>
          </a:xfrm>
          <a:prstGeom prst="rect">
            <a:avLst/>
          </a:prstGeom>
          <a:solidFill>
            <a:srgbClr val="0D1828"/>
          </a:solidFill>
          <a:ln w="12700">
            <a:solidFill>
              <a:srgbClr val="2AE8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627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EVASIVE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16276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Manoeuvres aggressively. Learn to hold radar track.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02082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12264"/>
            <a:ext cx="1554480" cy="502920"/>
          </a:xfrm>
          <a:prstGeom prst="rect">
            <a:avLst/>
          </a:prstGeom>
          <a:solidFill>
            <a:srgbClr val="0D1828"/>
          </a:solidFill>
          <a:ln w="12700">
            <a:solidFill>
              <a:srgbClr val="22FF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240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NOTCHER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22402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Beams to degrade radar. Unarmed. Learn angle-off.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6334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724912"/>
            <a:ext cx="1554480" cy="502920"/>
          </a:xfrm>
          <a:prstGeom prst="rect">
            <a:avLst/>
          </a:prstGeom>
          <a:solidFill>
            <a:srgbClr val="0D1828"/>
          </a:solidFill>
          <a:ln w="12700">
            <a:solidFill>
              <a:srgbClr val="FFBB2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8529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SHOOTER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285292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Armed BVR doctrine: commit → fire → crank → drag.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2461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1554480" cy="502920"/>
          </a:xfrm>
          <a:prstGeom prst="rect">
            <a:avLst/>
          </a:prstGeom>
          <a:solidFill>
            <a:srgbClr val="0D1828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4655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46557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Randomised tactics. Harder to exploit single pattern.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8587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950208"/>
            <a:ext cx="1554480" cy="502920"/>
          </a:xfrm>
          <a:prstGeom prst="rect">
            <a:avLst/>
          </a:prstGeom>
          <a:solidFill>
            <a:srgbClr val="0D1828"/>
          </a:solidFill>
          <a:ln w="12700">
            <a:solidFill>
              <a:srgbClr val="CC44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078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SELF-PLAY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103120" y="407822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vs its own past checkpoints. Final stage.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 CRITERION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4864608"/>
            <a:ext cx="8412480" cy="210312"/>
          </a:xfrm>
          <a:prstGeom prst="rect">
            <a:avLst/>
          </a:prstGeom>
          <a:solidFill>
            <a:srgbClr val="0D1828"/>
          </a:solidFill>
          <a:ln w="12700">
            <a:solidFill>
              <a:srgbClr val="2AE87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88289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 rate ≥ 65% for 50 consecutive episodes  →  auto-advance to next stage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A3F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&amp; VISUALISATION GUI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E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bvr_gui.py (HTTP :5006 · WebSocket :5010)  +  bvr_gui.html (self-contained, Three.js r128 embedded, 655 KB, works offline)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1828800"/>
          </a:xfrm>
          <a:prstGeom prst="rect">
            <a:avLst/>
          </a:prstGeom>
          <a:solidFill>
            <a:srgbClr val="0D1828"/>
          </a:solidFill>
          <a:ln w="12700">
            <a:solidFill>
              <a:srgbClr val="3A9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4114800" cy="256032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" y="987552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09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 TACTICAL 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1344168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2893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Three.js WebGL scene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572768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5179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WVR viz style (sky shader, brown ground, fog)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1801368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17465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F-16 planform jets + vertex-colour trails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2029968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19751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Missiles with TGO countdown rings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2258568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2037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Rmax / NEZ envelope rings on ground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" y="2487168"/>
            <a:ext cx="109728" cy="109728"/>
          </a:xfrm>
          <a:prstGeom prst="ellipse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4323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Drag to orbit · Scroll to zoom · Dbl-click to follow AC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960120"/>
            <a:ext cx="4114800" cy="1828800"/>
          </a:xfrm>
          <a:prstGeom prst="rect">
            <a:avLst/>
          </a:prstGeom>
          <a:solidFill>
            <a:srgbClr val="0D1828"/>
          </a:solidFill>
          <a:ln w="12700">
            <a:solidFill>
              <a:srgbClr val="FFBB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36592" y="987552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09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CONTROLS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1344168"/>
            <a:ext cx="109728" cy="109728"/>
          </a:xfrm>
          <a:prstGeom prst="ellipse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37760" y="12893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/ Stop training button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109728" cy="109728"/>
          </a:xfrm>
          <a:prstGeom prst="ellipse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15179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Opponent stage selector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73168" y="1801368"/>
            <a:ext cx="109728" cy="109728"/>
          </a:xfrm>
          <a:prstGeom prst="ellipse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17465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 count with time estimate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3168" y="2029968"/>
            <a:ext cx="109728" cy="109728"/>
          </a:xfrm>
          <a:prstGeom prst="ellipse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37760" y="19751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n_envs selector (1–8)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73168" y="2258568"/>
            <a:ext cx="109728" cy="109728"/>
          </a:xfrm>
          <a:prstGeom prst="ellipse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37760" y="22037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Gamma, LR, batch size inputs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73168" y="2487168"/>
            <a:ext cx="109728" cy="109728"/>
          </a:xfrm>
          <a:prstGeom prst="ellipse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37760" y="24323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 from checkpoint path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2926080"/>
            <a:ext cx="4114800" cy="1828800"/>
          </a:xfrm>
          <a:prstGeom prst="rect">
            <a:avLst/>
          </a:prstGeom>
          <a:solidFill>
            <a:srgbClr val="0D1828"/>
          </a:solidFill>
          <a:ln w="12700">
            <a:solidFill>
              <a:srgbClr val="2AE87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2926080"/>
            <a:ext cx="4114800" cy="256032"/>
          </a:xfrm>
          <a:prstGeom prst="rect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38912" y="2953512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09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METRICS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" y="3310128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32552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 rate · Exchange ratio · Pk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" y="3538728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34838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 rate (passive collapse indicator)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" y="3767328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" y="37124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 range · r/Rmax at shot · Track fraction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" y="3995928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39410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Rolling win rate trend chart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5488" y="4224528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" y="41696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Curriculum stage progress bar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" y="4453128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0080" y="43982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Episode rate (ep/min)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2926080"/>
            <a:ext cx="4114800" cy="1828800"/>
          </a:xfrm>
          <a:prstGeom prst="rect">
            <a:avLst/>
          </a:prstGeom>
          <a:solidFill>
            <a:srgbClr val="0D1828"/>
          </a:solidFill>
          <a:ln w="12700">
            <a:solidFill>
              <a:srgbClr val="22FF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2926080"/>
            <a:ext cx="4114800" cy="256032"/>
          </a:xfrm>
          <a:prstGeom prst="rect">
            <a:avLst/>
          </a:prstGeom>
          <a:solidFill>
            <a:srgbClr val="22FF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736592" y="2953512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09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ENGAGEMENT HUD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73168" y="3310128"/>
            <a:ext cx="109728" cy="109728"/>
          </a:xfrm>
          <a:prstGeom prst="ellipse">
            <a:avLst/>
          </a:prstGeom>
          <a:solidFill>
            <a:srgbClr val="22FF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937760" y="32552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 · Closure rate · Aspect angles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73168" y="3538728"/>
            <a:ext cx="109728" cy="109728"/>
          </a:xfrm>
          <a:prstGeom prst="ellipse">
            <a:avLst/>
          </a:prstGeom>
          <a:solidFill>
            <a:srgbClr val="22FF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937760" y="34838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Radar track state + position σ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73168" y="3767328"/>
            <a:ext cx="109728" cy="109728"/>
          </a:xfrm>
          <a:prstGeom prst="ellipse">
            <a:avLst/>
          </a:prstGeom>
          <a:solidFill>
            <a:srgbClr val="22FF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937760" y="37124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r/Rmax · r/NEZ with IN-ENVELOPE indicator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773168" y="3995928"/>
            <a:ext cx="109728" cy="109728"/>
          </a:xfrm>
          <a:prstGeom prst="ellipse">
            <a:avLst/>
          </a:prstGeom>
          <a:solidFill>
            <a:srgbClr val="22FF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937760" y="39410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Missile state: TGO, support countdown, seeker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773168" y="4224528"/>
            <a:ext cx="109728" cy="109728"/>
          </a:xfrm>
          <a:prstGeom prst="ellipse">
            <a:avLst/>
          </a:prstGeom>
          <a:solidFill>
            <a:srgbClr val="22FF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937760" y="41696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RWR warning indicators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773168" y="4453128"/>
            <a:ext cx="109728" cy="109728"/>
          </a:xfrm>
          <a:prstGeom prst="ellipse">
            <a:avLst/>
          </a:prstGeom>
          <a:solidFill>
            <a:srgbClr val="22FF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937760" y="43982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Shot decision trace table (post-episode)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A3F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METRICS &amp; DIAGNOSIS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192024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E8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704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 Rate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77440" y="594360"/>
            <a:ext cx="201168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0" y="704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E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&gt; 65% per stage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594360"/>
            <a:ext cx="425196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7040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If stuck &lt; 30%: check timeout rate, increase R_TIMEOUT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179576"/>
            <a:ext cx="192024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3A9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2893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Exchange Ratio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77440" y="1179576"/>
            <a:ext cx="201168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68880" y="1289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E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&gt; 2.0 vs SHOOTER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26280" y="1179576"/>
            <a:ext cx="425196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128930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&lt; 1.0 means losing more than winning — check reward design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764792"/>
            <a:ext cx="192024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2FF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1874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Realized Pk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0" y="1764792"/>
            <a:ext cx="201168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6888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E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0.6 – 0.9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26280" y="1764792"/>
            <a:ext cx="425196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17720" y="18745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&lt; 0.3: shots outside envelope; r/Rmax &gt; 1 at shot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350008"/>
            <a:ext cx="192024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FFBB2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2459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 Rate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377440" y="2350008"/>
            <a:ext cx="201168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68880" y="2459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E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&lt; 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26280" y="2350008"/>
            <a:ext cx="425196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245973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&gt; 30%: passive collapse — agent runs away from fight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935224"/>
            <a:ext cx="192024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E87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044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r/Rmax at Shot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377440" y="2935224"/>
            <a:ext cx="201168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68880" y="3044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E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0.5 – 0.9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26280" y="2935224"/>
            <a:ext cx="425196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17720" y="30449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&gt; 1.0: fire mask failure or analytic Rmax too optimistic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520440"/>
            <a:ext cx="192024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3A9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3630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Fraction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377440" y="3520440"/>
            <a:ext cx="201168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68880" y="3630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E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&gt; 70%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26280" y="3520440"/>
            <a:ext cx="425196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617720" y="36301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&lt; 40%: agent cranks past radar gimbal limit too often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105656"/>
            <a:ext cx="192024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2FFD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7200" y="4215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 Range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377440" y="4105656"/>
            <a:ext cx="201168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468880" y="4215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E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50–85% of Rmax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26280" y="4105656"/>
            <a:ext cx="4251960" cy="475488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617720" y="42153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Too close = wasted energy advantage; too far = miss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A3F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STATUS &amp; NEXT STEPS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 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850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Pure-Python sim: 15/15 tests pass at 43× realtime (Python 3.9, Windows)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197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Gymnasium environment with action masking, asymmetric critic, potential shaping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609344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1545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training pipeline: MaskablePPO + curriculum + checkpoint management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1892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&amp; visualisation GUI (offline-capable, Three.js 3D tactical view)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240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metrics: win rate, Pk, exchange ratio, launch quality, track fraction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109728" cy="109728"/>
          </a:xfrm>
          <a:prstGeom prst="ellipse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5877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WVR baseline: 86% kill rate against LAG_PURSUIT — architecture validated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 / NEXT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640080" cy="274320"/>
          </a:xfrm>
          <a:prstGeom prst="rect">
            <a:avLst/>
          </a:prstGeom>
          <a:solidFill>
            <a:srgbClr val="0D1828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4048" y="341071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015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Diagnose 0% win rate at ep 3k (run eval: passive collapse vs kinematic miss?)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730752"/>
            <a:ext cx="640080" cy="274320"/>
          </a:xfrm>
          <a:prstGeom prst="rect">
            <a:avLst/>
          </a:prstGeom>
          <a:solidFill>
            <a:srgbClr val="0D1828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" y="375818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7490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 timeout penalty R_TIMEOUT = −0.5 → −0.9 if passive collapse confirmed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078224"/>
            <a:ext cx="640080" cy="274320"/>
          </a:xfrm>
          <a:prstGeom prst="rect">
            <a:avLst/>
          </a:prstGeom>
          <a:solidFill>
            <a:srgbClr val="0D1828"/>
          </a:solidFill>
          <a:ln w="12700">
            <a:solidFill>
              <a:srgbClr val="FFBB2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4048" y="410565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0965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sweep_envelope.py to calibrate R_MAX_REF vs real missile kinematics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425696"/>
            <a:ext cx="640080" cy="274320"/>
          </a:xfrm>
          <a:prstGeom prst="rect">
            <a:avLst/>
          </a:prstGeom>
          <a:solidFill>
            <a:srgbClr val="0D1828"/>
          </a:solidFill>
          <a:ln w="12700">
            <a:solidFill>
              <a:srgbClr val="FFBB2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4048" y="445312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44439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to n_envs=4 with SubprocVecEnv once STRAIGHT curriculum is passing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4773168"/>
            <a:ext cx="640080" cy="274320"/>
          </a:xfrm>
          <a:prstGeom prst="rect">
            <a:avLst/>
          </a:prstGeom>
          <a:solidFill>
            <a:srgbClr val="0D1828"/>
          </a:solidFill>
          <a:ln w="12700">
            <a:solidFill>
              <a:srgbClr val="3A9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4048" y="480060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479145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 A/B comparison tool + opponent heatmap visualisation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A3F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STRUCTURE &amp; HOW TO RUN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IN BVR/ FOLDER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solidFill>
            <a:srgbClr val="0D1828"/>
          </a:solidFill>
          <a:ln w="12700">
            <a:solidFill>
              <a:srgbClr val="3A9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96112"/>
            <a:ext cx="91440" cy="384048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f16_sim.py · missile_sim.py · sim_world.py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960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simulation — F-16 + AIM-120 + world integrator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353312"/>
            <a:ext cx="8412480" cy="384048"/>
          </a:xfrm>
          <a:prstGeom prst="rect">
            <a:avLst/>
          </a:prstGeom>
          <a:solidFill>
            <a:srgbClr val="0D1828"/>
          </a:solidFill>
          <a:ln w="12700">
            <a:solidFill>
              <a:srgbClr val="2AE8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53312"/>
            <a:ext cx="91440" cy="384048"/>
          </a:xfrm>
          <a:prstGeom prst="rect">
            <a:avLst/>
          </a:prstGeom>
          <a:solidFill>
            <a:srgbClr val="2AE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417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E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bvr_env.py · bvr_track_adapter.py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Gymnasium environment + EKF radar track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810512"/>
            <a:ext cx="8412480" cy="384048"/>
          </a:xfrm>
          <a:prstGeom prst="rect">
            <a:avLst/>
          </a:prstGeom>
          <a:solidFill>
            <a:srgbClr val="0D1828"/>
          </a:solidFill>
          <a:ln w="12700">
            <a:solidFill>
              <a:srgbClr val="22FF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810512"/>
            <a:ext cx="91440" cy="384048"/>
          </a:xfrm>
          <a:prstGeom prst="rect">
            <a:avLst/>
          </a:prstGeom>
          <a:solidFill>
            <a:srgbClr val="22FF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18745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bvr_radar_sim.py · bvr_envelope.py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1874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radar surrogate (53 µs) + launch envelope 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267712"/>
            <a:ext cx="8412480" cy="384048"/>
          </a:xfrm>
          <a:prstGeom prst="rect">
            <a:avLst/>
          </a:prstGeom>
          <a:solidFill>
            <a:srgbClr val="0D1828"/>
          </a:solidFill>
          <a:ln w="12700">
            <a:solidFill>
              <a:srgbClr val="FFBB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267712"/>
            <a:ext cx="91440" cy="384048"/>
          </a:xfrm>
          <a:prstGeom prst="rect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331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bvr_opponents.py · bvr_policy.py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Scripted opponents (5 types) + asymmetric actor-critic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724912"/>
            <a:ext cx="8412480" cy="384048"/>
          </a:xfrm>
          <a:prstGeom prst="rect">
            <a:avLst/>
          </a:prstGeom>
          <a:solidFill>
            <a:srgbClr val="0D1828"/>
          </a:solidFill>
          <a:ln w="12700">
            <a:solidFill>
              <a:srgbClr val="FFBB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724912"/>
            <a:ext cx="91440" cy="384048"/>
          </a:xfrm>
          <a:prstGeom prst="rect">
            <a:avLst/>
          </a:prstGeom>
          <a:solidFill>
            <a:srgbClr val="FFB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788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train_bvr.py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2788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script — MaskablePPO + curriculum callbacks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82112"/>
            <a:ext cx="8412480" cy="384048"/>
          </a:xfrm>
          <a:prstGeom prst="rect">
            <a:avLst/>
          </a:prstGeom>
          <a:solidFill>
            <a:srgbClr val="0D1828"/>
          </a:solidFill>
          <a:ln w="12700">
            <a:solidFill>
              <a:srgbClr val="3A9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182112"/>
            <a:ext cx="91440" cy="384048"/>
          </a:xfrm>
          <a:prstGeom prst="rect">
            <a:avLst/>
          </a:prstGeom>
          <a:solidFill>
            <a:srgbClr val="3A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246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bvr_gui.py · bvr_gui.html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09160" y="3246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HTTP+WebSocket server + Three.js frontend (655 KB)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3730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COMMANDS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4041648"/>
            <a:ext cx="8412480" cy="283464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4087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sim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737360" y="40873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test_sim.py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40873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15/15 OK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379976"/>
            <a:ext cx="8412480" cy="283464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44256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 GUI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737360" y="44256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bvr_gui.py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425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http://localhost:5006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718304"/>
            <a:ext cx="8412480" cy="283464"/>
          </a:xfrm>
          <a:prstGeom prst="rect">
            <a:avLst/>
          </a:prstGeom>
          <a:solidFill>
            <a:srgbClr val="0D182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4764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B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(CLI)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737360" y="476402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FF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train_bvr.py --opponent straight --steps 5000000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132320" y="47640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models_bvr/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BVR RL — F-16 Beyond Visual Range Combat Agent</dc:title>
  <dc:subject>PptxGenJS Presentation</dc:subject>
  <dc:creator>PptxGenJS</dc:creator>
  <cp:lastModifiedBy>PptxGenJS</cp:lastModifiedBy>
  <cp:revision>1</cp:revision>
  <dcterms:created xsi:type="dcterms:W3CDTF">2026-09-17T15:43:16Z</dcterms:created>
  <dcterms:modified xsi:type="dcterms:W3CDTF">2026-09-17T15:43:16Z</dcterms:modified>
</cp:coreProperties>
</file>